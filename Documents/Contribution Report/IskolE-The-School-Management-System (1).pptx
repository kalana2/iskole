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strument Sans Semi Bold"/>
      <p:regular r:id="rId17"/>
    </p:embeddedFont>
    <p:embeddedFont>
      <p:font typeface="Instrument Sans Semi Bold"/>
      <p:regular r:id="rId18"/>
    </p:embeddedFont>
    <p:embeddedFont>
      <p:font typeface="Instrument Sans Semi Bold"/>
      <p:regular r:id="rId19"/>
    </p:embeddedFont>
    <p:embeddedFont>
      <p:font typeface="Instrument Sans Semi Bold"/>
      <p:regular r:id="rId20"/>
    </p:embeddedFont>
    <p:embeddedFont>
      <p:font typeface="Instrument Sans Medium"/>
      <p:regular r:id="rId21"/>
    </p:embeddedFont>
    <p:embeddedFont>
      <p:font typeface="Instrument Sans Medium"/>
      <p:regular r:id="rId22"/>
    </p:embeddedFont>
    <p:embeddedFont>
      <p:font typeface="Instrument Sans Medium"/>
      <p:regular r:id="rId23"/>
    </p:embeddedFont>
    <p:embeddedFont>
      <p:font typeface="Instrument Sans Medium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slideLayout" Target="../slideLayouts/slideLayout6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5760720" cy="8229600"/>
          </a:xfrm>
          <a:prstGeom prst="rect">
            <a:avLst/>
          </a:prstGeom>
          <a:solidFill>
            <a:srgbClr val="CEE6F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0481" y="386715"/>
            <a:ext cx="4970621" cy="74560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1899642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IskolE — The School Management System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793790" y="3437453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CS Group 38 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93790" y="4295775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Supervisors: Mr. Viraj Welgama &amp; Mr. Janitha Dissanayake 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93790" y="4836557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Team: Seniru D S Senaweera, R K K Jinendra, R.S.R.G.A.A. Ananda, S.K. Thasindu Ramsitha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93790" y="5694878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production-ready, role-aware web application that centralises academic, administrative, and communication workflows for Sri Lankan schools.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13096"/>
            <a:ext cx="5413653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Project Scope &amp; Introduction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2806065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IskolE is a web-based School Management System (SMS) targeted at Sri Lankan schools. It centralises academic records, administrative tasks, and communications into a single platform with role-based access for five roles: Administrator, Management Panel, Teacher, Parent, and Student.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981926"/>
            <a:ext cx="1855113" cy="23188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896910" y="398192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Why it matters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2896910" y="4411147"/>
            <a:ext cx="4294227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Current workflows rely on paper logs, spreadsheets, and verbal notices — causing data errors, delayed reporting, poor transparency, and fragmented communication. IskolE replaces these with automated, auditable digital processes.</a:t>
            </a:r>
            <a:endParaRPr lang="en-US" sz="1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9144" y="3981926"/>
            <a:ext cx="1855232" cy="23189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42383" y="398192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Core capabilities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9542383" y="4411147"/>
            <a:ext cx="4294227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Automates timetables, attendance, marks, announcements, and learning materials while enforcing RBAC and secure access.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5760720" cy="8229600"/>
          </a:xfrm>
          <a:prstGeom prst="rect">
            <a:avLst/>
          </a:prstGeom>
          <a:solidFill>
            <a:srgbClr val="CEE6F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1431" y="356235"/>
            <a:ext cx="5011341" cy="75171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0197" y="474226"/>
            <a:ext cx="6310908" cy="387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Functional &amp; Non-Functional Requirements</a:t>
            </a:r>
            <a:endParaRPr lang="en-US" sz="2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0197" y="1043583"/>
            <a:ext cx="387548" cy="3875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0197" y="1582460"/>
            <a:ext cx="1938218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Admin (Functional)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620197" y="1897380"/>
            <a:ext cx="7903607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Full CRUD for management staff, teachers, students, parents; grade/class/subject management; assign class teachers.</a:t>
            </a:r>
            <a:endParaRPr lang="en-US" sz="1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197" y="2581275"/>
            <a:ext cx="387548" cy="38754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20197" y="3120152"/>
            <a:ext cx="2946083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Management Panel (Functional)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620197" y="3435072"/>
            <a:ext cx="7903607" cy="220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Manage records, broadcast announcements, timetables &amp; exam schedules, approve/reject teacher leave.</a:t>
            </a:r>
            <a:endParaRPr lang="en-US" sz="12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0197" y="3898106"/>
            <a:ext cx="387548" cy="3875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20197" y="4436983"/>
            <a:ext cx="1938218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Teacher (Functional)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620197" y="4751903"/>
            <a:ext cx="7903607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Take attendance, enter/update marks, upload learning materials, post announcements, submit leave, add behaviour remarks.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0197" y="5435798"/>
            <a:ext cx="387548" cy="38754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20197" y="5974675"/>
            <a:ext cx="2747724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Student &amp; Parent (Functional)</a:t>
            </a:r>
            <a:endParaRPr lang="en-US" sz="1500" dirty="0"/>
          </a:p>
        </p:txBody>
      </p:sp>
      <p:sp>
        <p:nvSpPr>
          <p:cNvPr id="16" name="Text 9"/>
          <p:cNvSpPr/>
          <p:nvPr/>
        </p:nvSpPr>
        <p:spPr>
          <a:xfrm>
            <a:off x="620197" y="6289596"/>
            <a:ext cx="7903607" cy="441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Students view marks, timetables, attendance, progress; Parents view child’s marks, attendance, behaviour, teachers, and submit pre-absence requests.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620197" y="6906220"/>
            <a:ext cx="7903607" cy="11549"/>
          </a:xfrm>
          <a:prstGeom prst="rect">
            <a:avLst/>
          </a:prstGeom>
          <a:solidFill>
            <a:srgbClr val="1E3063">
              <a:alpha val="50000"/>
            </a:srgbClr>
          </a:solidFill>
          <a:ln/>
        </p:spPr>
      </p:sp>
      <p:sp>
        <p:nvSpPr>
          <p:cNvPr id="18" name="Text 11"/>
          <p:cNvSpPr/>
          <p:nvPr/>
        </p:nvSpPr>
        <p:spPr>
          <a:xfrm>
            <a:off x="620197" y="7092672"/>
            <a:ext cx="7903607" cy="662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Non-functional highlights: Security (password hashing, RBAC), Reliability (HA, transactional integrity, backups), Performance (page load &lt; 2s), Usability (intuitive UI), Maintainability (MVC, documented code, CI), Portability (LAMP + Docker).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5760720" cy="8229600"/>
          </a:xfrm>
          <a:prstGeom prst="rect">
            <a:avLst/>
          </a:prstGeom>
          <a:solidFill>
            <a:srgbClr val="CEE6F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9171" y="384572"/>
            <a:ext cx="4973479" cy="74603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1407" y="778312"/>
            <a:ext cx="4741307" cy="488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System Analysis &amp; Design</a:t>
            </a:r>
            <a:endParaRPr lang="en-US" sz="3050" dirty="0"/>
          </a:p>
        </p:txBody>
      </p:sp>
      <p:sp>
        <p:nvSpPr>
          <p:cNvPr id="5" name="Text 2"/>
          <p:cNvSpPr/>
          <p:nvPr/>
        </p:nvSpPr>
        <p:spPr>
          <a:xfrm>
            <a:off x="781407" y="1555075"/>
            <a:ext cx="7581186" cy="930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Architecture centered on a USER entity with specialisations for Student, Teacher, and Parent. Use cases for five actors (Administrator, Management Panel, Teacher, Student, Parent) map directly to role-scoped dashboards and workflows.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81407" y="2701885"/>
            <a:ext cx="2398871" cy="3602474"/>
          </a:xfrm>
          <a:prstGeom prst="roundRect">
            <a:avLst>
              <a:gd name="adj" fmla="val 7330"/>
            </a:avLst>
          </a:prstGeom>
          <a:solidFill>
            <a:srgbClr val="CEE6FD"/>
          </a:solidFill>
          <a:ln/>
        </p:spPr>
      </p:sp>
      <p:sp>
        <p:nvSpPr>
          <p:cNvPr id="7" name="Text 4"/>
          <p:cNvSpPr/>
          <p:nvPr/>
        </p:nvSpPr>
        <p:spPr>
          <a:xfrm>
            <a:off x="976670" y="2897148"/>
            <a:ext cx="2008346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ER Model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76670" y="3317677"/>
            <a:ext cx="2008346" cy="2481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USER core with polymorphic links to Student, Teacher, Parent; Class, Subject, Timetable, Attendance, Marks entities with referential integrity.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72564" y="2701885"/>
            <a:ext cx="2398871" cy="3602474"/>
          </a:xfrm>
          <a:prstGeom prst="roundRect">
            <a:avLst>
              <a:gd name="adj" fmla="val 7330"/>
            </a:avLst>
          </a:prstGeom>
          <a:solidFill>
            <a:srgbClr val="CEE6FD"/>
          </a:solidFill>
          <a:ln/>
        </p:spPr>
      </p:sp>
      <p:sp>
        <p:nvSpPr>
          <p:cNvPr id="10" name="Text 7"/>
          <p:cNvSpPr/>
          <p:nvPr/>
        </p:nvSpPr>
        <p:spPr>
          <a:xfrm>
            <a:off x="3567827" y="2897148"/>
            <a:ext cx="2008346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Class Diagram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3567827" y="3317677"/>
            <a:ext cx="2008346" cy="2791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MVC-aligned controllers (AuthController, AttendanceController), models (UserModel, MarkModel) and entity/value objects ensuring separation of concerns.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963722" y="2701885"/>
            <a:ext cx="2398871" cy="3602474"/>
          </a:xfrm>
          <a:prstGeom prst="roundRect">
            <a:avLst>
              <a:gd name="adj" fmla="val 7330"/>
            </a:avLst>
          </a:prstGeom>
          <a:solidFill>
            <a:srgbClr val="CEE6FD"/>
          </a:solidFill>
          <a:ln/>
        </p:spPr>
      </p:sp>
      <p:sp>
        <p:nvSpPr>
          <p:cNvPr id="13" name="Text 10"/>
          <p:cNvSpPr/>
          <p:nvPr/>
        </p:nvSpPr>
        <p:spPr>
          <a:xfrm>
            <a:off x="6158984" y="2897148"/>
            <a:ext cx="2008346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Activity Flows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158984" y="3317677"/>
            <a:ext cx="2008346" cy="2481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Role-specific flows (Login → Dashboard → Role actions). Admin and Manager flows include publish/unpublish controls and approval steps.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81407" y="6520696"/>
            <a:ext cx="7581186" cy="930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improvements: digital CRUD replacing paper logs, automated rank/average calculations, centralised timetabling with publish controls, and role-scoped dashboards replacing fragmented communication channels.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60720" cy="8229600"/>
          </a:xfrm>
          <a:prstGeom prst="rect">
            <a:avLst/>
          </a:prstGeom>
          <a:solidFill>
            <a:srgbClr val="CEE6F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98" y="386715"/>
            <a:ext cx="4970621" cy="74560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611743"/>
            <a:ext cx="6377583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System Architecture &amp; Tech Stack</a:t>
            </a:r>
            <a:endParaRPr lang="en-US" sz="3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0190" y="1430298"/>
            <a:ext cx="198358" cy="19835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280190" y="1719858"/>
            <a:ext cx="3679031" cy="2286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7" name="Text 3"/>
          <p:cNvSpPr/>
          <p:nvPr/>
        </p:nvSpPr>
        <p:spPr>
          <a:xfrm>
            <a:off x="6280190" y="186475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Model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6280190" y="2293977"/>
            <a:ext cx="367903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access, business rules: DB interactions, averages, rankings, attendance computations.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57579" y="1430298"/>
            <a:ext cx="198358" cy="19835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0157579" y="1719858"/>
            <a:ext cx="3679031" cy="2286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1" name="Text 6"/>
          <p:cNvSpPr/>
          <p:nvPr/>
        </p:nvSpPr>
        <p:spPr>
          <a:xfrm>
            <a:off x="10157579" y="186475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View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10157579" y="2293977"/>
            <a:ext cx="36790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HTML/CSS/JS presentation; forms and dashboards without business logic.</a:t>
            </a:r>
            <a:endParaRPr lang="en-US" sz="15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80190" y="3618548"/>
            <a:ext cx="198358" cy="198358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280190" y="3908108"/>
            <a:ext cx="7556421" cy="22860"/>
          </a:xfrm>
          <a:prstGeom prst="rect">
            <a:avLst/>
          </a:prstGeom>
          <a:solidFill>
            <a:srgbClr val="84C1FA"/>
          </a:solidFill>
          <a:ln/>
        </p:spPr>
      </p:sp>
      <p:sp>
        <p:nvSpPr>
          <p:cNvPr id="15" name="Text 9"/>
          <p:cNvSpPr/>
          <p:nvPr/>
        </p:nvSpPr>
        <p:spPr>
          <a:xfrm>
            <a:off x="6280190" y="405300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Controller</a:t>
            </a:r>
            <a:endParaRPr lang="en-US" sz="1950" dirty="0"/>
          </a:p>
        </p:txBody>
      </p:sp>
      <p:sp>
        <p:nvSpPr>
          <p:cNvPr id="16" name="Text 10"/>
          <p:cNvSpPr/>
          <p:nvPr/>
        </p:nvSpPr>
        <p:spPr>
          <a:xfrm>
            <a:off x="6280190" y="4482227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Request handling, input validation, navigation, orchestrating model &amp; view interactions.</a:t>
            </a:r>
            <a:endParaRPr lang="en-US" sz="1550" dirty="0"/>
          </a:p>
        </p:txBody>
      </p:sp>
      <p:sp>
        <p:nvSpPr>
          <p:cNvPr id="17" name="Text 11"/>
          <p:cNvSpPr/>
          <p:nvPr/>
        </p:nvSpPr>
        <p:spPr>
          <a:xfrm>
            <a:off x="6280190" y="5489377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Tech stack: Frontend — HTML, CSS, JavaScript; Backend — PHP; Database — MySQL; Containerisation — Docker; Version control — Git/GitHub; Project management — Jira.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6280190" y="6665238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modules: Authentication, Student &amp; Teacher Management, Attendance, Marks &amp; Performance, Announcements, Learning Materials, Timetable &amp; Calendar, Behaviour &amp; Remarks, Admin (Grades/Classes/Subjects).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71926"/>
            <a:ext cx="513909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Usability &amp; User Experience</a:t>
            </a:r>
            <a:endParaRPr lang="en-US" sz="3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964894"/>
            <a:ext cx="919996" cy="11499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61793" y="2964894"/>
            <a:ext cx="298358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Role-specific Dashboards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961793" y="3394115"/>
            <a:ext cx="301418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Each role sees only relevant data and actions — reduces cognitive load and prevents unauthorized access.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3986" y="2964894"/>
            <a:ext cx="919996" cy="114990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91989" y="296489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Intuitive Navigation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6391989" y="3394115"/>
            <a:ext cx="301430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Consistent UI patterns, clear affordances, and a central announcement feed keep users oriented and informed.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4302" y="2964894"/>
            <a:ext cx="919996" cy="114990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822305" y="296489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Future-ready UX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0822305" y="3394115"/>
            <a:ext cx="3014305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Fingerprint attendance simulation and quick analytics (auto ranks, averages, attendance %) provide fast insights without manual calculations.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793790" y="5522595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Onboarding: phone number as default password for initial access. Real-time timetable publish/unpublish ensures users always see the intended schedule. 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60720" cy="8229600"/>
          </a:xfrm>
          <a:prstGeom prst="rect">
            <a:avLst/>
          </a:prstGeom>
          <a:solidFill>
            <a:srgbClr val="CEE6F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98" y="386715"/>
            <a:ext cx="4970621" cy="74560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1007150"/>
            <a:ext cx="491680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Testing Strategy &amp; Results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6280190" y="1800939"/>
            <a:ext cx="446484" cy="446484"/>
          </a:xfrm>
          <a:prstGeom prst="roundRect">
            <a:avLst>
              <a:gd name="adj" fmla="val 40008"/>
            </a:avLst>
          </a:prstGeom>
          <a:solidFill>
            <a:srgbClr val="CEE6FD"/>
          </a:solidFill>
          <a:ln/>
        </p:spPr>
      </p:sp>
      <p:sp>
        <p:nvSpPr>
          <p:cNvPr id="6" name="Text 3"/>
          <p:cNvSpPr/>
          <p:nvPr/>
        </p:nvSpPr>
        <p:spPr>
          <a:xfrm>
            <a:off x="6354604" y="1838146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6925032" y="186916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Coverage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6925032" y="2298383"/>
            <a:ext cx="691157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Test documentation maintained in Google Sheets covering all 19 modules; test cases map directly to requirements.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280190" y="3330297"/>
            <a:ext cx="446484" cy="446484"/>
          </a:xfrm>
          <a:prstGeom prst="roundRect">
            <a:avLst>
              <a:gd name="adj" fmla="val 40008"/>
            </a:avLst>
          </a:prstGeom>
          <a:solidFill>
            <a:srgbClr val="CEE6FD"/>
          </a:solidFill>
          <a:ln/>
        </p:spPr>
      </p:sp>
      <p:sp>
        <p:nvSpPr>
          <p:cNvPr id="10" name="Text 7"/>
          <p:cNvSpPr/>
          <p:nvPr/>
        </p:nvSpPr>
        <p:spPr>
          <a:xfrm>
            <a:off x="6354604" y="3367504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6925032" y="339852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Test Types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6925032" y="3827740"/>
            <a:ext cx="6911578" cy="1865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Unit testing (business logic functions)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Functional testing (end-to-end module validation)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CRUD operation testing across all modules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Integration testing (module interactions)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RBAC testing (5 roles verified)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280190" y="6089928"/>
            <a:ext cx="446484" cy="446484"/>
          </a:xfrm>
          <a:prstGeom prst="roundRect">
            <a:avLst>
              <a:gd name="adj" fmla="val 40008"/>
            </a:avLst>
          </a:prstGeom>
          <a:solidFill>
            <a:srgbClr val="CEE6FD"/>
          </a:solidFill>
          <a:ln/>
        </p:spPr>
      </p:sp>
      <p:sp>
        <p:nvSpPr>
          <p:cNvPr id="14" name="Text 11"/>
          <p:cNvSpPr/>
          <p:nvPr/>
        </p:nvSpPr>
        <p:spPr>
          <a:xfrm>
            <a:off x="6354604" y="6127135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2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6925032" y="615815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Outcome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6925032" y="6587371"/>
            <a:ext cx="691157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19 modules tested — all CRUD and role scenarios validated. Status: All test cases passed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✅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16343"/>
            <a:ext cx="8387953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System Completeness &amp; Team Contributions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210931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Project status: 100% complete — all planned functionalities implemented across 16 CRUD-based modules with zero incomplete items.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650093"/>
            <a:ext cx="13042821" cy="3822383"/>
          </a:xfrm>
          <a:prstGeom prst="roundRect">
            <a:avLst>
              <a:gd name="adj" fmla="val 4673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657713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99768" y="2784396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Member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17368" y="2784396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Modules / Responsibilities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01410" y="3228618"/>
            <a:ext cx="13027581" cy="8884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99768" y="3355300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 K K Jinendra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517368" y="3355300"/>
            <a:ext cx="611326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Management Staff, Teacher, Student, Parent Records; Absence Reasons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01410" y="4117062"/>
            <a:ext cx="13027581" cy="8884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99768" y="4243745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Seniru D S Senaweera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517368" y="4243745"/>
            <a:ext cx="611326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Announcements, Learning Materials, Teacher &amp; Student Attendance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01410" y="5005507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99768" y="5132189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S.K. Thasindu Ramsitha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517368" y="5132189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Marks/Results, Student &amp; Teacher Timetables, Relief/Substitution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01410" y="5576411"/>
            <a:ext cx="13027581" cy="8884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99768" y="5703094"/>
            <a:ext cx="61132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R.S.R.G.A.A. Ananda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517368" y="5703094"/>
            <a:ext cx="611326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Classes, Exam Timetables, Teacher Leave, Behaviour/Remarks, Subjects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93790" y="669571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Equal contribution across design, database, frontend, backend, testing, and integration — 25% each.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5760720" cy="8229600"/>
          </a:xfrm>
          <a:prstGeom prst="rect">
            <a:avLst/>
          </a:prstGeom>
          <a:solidFill>
            <a:srgbClr val="CEE6F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2384" y="373737"/>
            <a:ext cx="4988004" cy="74821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9376" y="567571"/>
            <a:ext cx="7230666" cy="449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Technical Exposure &amp; Theoretical Learning</a:t>
            </a:r>
            <a:endParaRPr lang="en-US" sz="2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376" y="1261586"/>
            <a:ext cx="449580" cy="4495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9376" y="1914882"/>
            <a:ext cx="2248257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Practical Skills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719376" y="2293620"/>
            <a:ext cx="77052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PHP server-side logic, session management, secure DB access (PDO/MySQLi), Dockerised deployments, Git-based collaboration, and Jira-driven project management.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9376" y="3168253"/>
            <a:ext cx="449580" cy="4495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19376" y="3821549"/>
            <a:ext cx="2613422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Database &amp; Architecture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719376" y="4200287"/>
            <a:ext cx="77052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Relational design, normalization, transactional integrity, ER modelling, and applying the MVC pattern in a production-like application.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9376" y="5074920"/>
            <a:ext cx="449580" cy="4495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19376" y="5728216"/>
            <a:ext cx="2248257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Security &amp; DevOps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719376" y="6106954"/>
            <a:ext cx="770524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RBAC design, password hashing, session timeouts, and containerised CI/CD-ready workflows for reproducible environments.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719376" y="6838950"/>
            <a:ext cx="770524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project reinforced software engineering lifecycle practices: requirements → design → implement → test → deploy, and provided hands-on experience in production-ready system delivery.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760720" cy="8229600"/>
          </a:xfrm>
          <a:prstGeom prst="rect">
            <a:avLst/>
          </a:prstGeom>
          <a:solidFill>
            <a:srgbClr val="CEE6F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59" y="375880"/>
            <a:ext cx="4985147" cy="74778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8158" y="565547"/>
            <a:ext cx="5466636" cy="4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8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Special Attributes &amp; Conclusion</a:t>
            </a:r>
            <a:endParaRPr lang="en-US" sz="2850" dirty="0"/>
          </a:p>
        </p:txBody>
      </p:sp>
      <p:sp>
        <p:nvSpPr>
          <p:cNvPr id="5" name="Shape 2"/>
          <p:cNvSpPr/>
          <p:nvPr/>
        </p:nvSpPr>
        <p:spPr>
          <a:xfrm>
            <a:off x="6218158" y="1550313"/>
            <a:ext cx="2447687" cy="3024068"/>
          </a:xfrm>
          <a:prstGeom prst="roundRect">
            <a:avLst>
              <a:gd name="adj" fmla="val 4483"/>
            </a:avLst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6218158" y="1527453"/>
            <a:ext cx="2447687" cy="91440"/>
          </a:xfrm>
          <a:prstGeom prst="roundRect">
            <a:avLst>
              <a:gd name="adj" fmla="val 180087"/>
            </a:avLst>
          </a:prstGeom>
          <a:solidFill>
            <a:srgbClr val="84C1FA"/>
          </a:solidFill>
          <a:ln/>
        </p:spPr>
      </p:sp>
      <p:sp>
        <p:nvSpPr>
          <p:cNvPr id="7" name="Shape 4"/>
          <p:cNvSpPr/>
          <p:nvPr/>
        </p:nvSpPr>
        <p:spPr>
          <a:xfrm>
            <a:off x="7167562" y="1275874"/>
            <a:ext cx="548878" cy="548878"/>
          </a:xfrm>
          <a:prstGeom prst="roundRect">
            <a:avLst>
              <a:gd name="adj" fmla="val 166594"/>
            </a:avLst>
          </a:prstGeom>
          <a:solidFill>
            <a:srgbClr val="84C1FA"/>
          </a:solidFill>
          <a:ln/>
        </p:spPr>
      </p:sp>
      <p:sp>
        <p:nvSpPr>
          <p:cNvPr id="8" name="Text 5"/>
          <p:cNvSpPr/>
          <p:nvPr/>
        </p:nvSpPr>
        <p:spPr>
          <a:xfrm>
            <a:off x="7332226" y="1413034"/>
            <a:ext cx="219551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23898" y="2007632"/>
            <a:ext cx="2036207" cy="571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Production-ready Deployment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23898" y="2680573"/>
            <a:ext cx="2036207" cy="562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Live single-school deployment.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834438" y="1550313"/>
            <a:ext cx="2447806" cy="3024068"/>
          </a:xfrm>
          <a:prstGeom prst="roundRect">
            <a:avLst>
              <a:gd name="adj" fmla="val 4483"/>
            </a:avLst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8834438" y="1527453"/>
            <a:ext cx="2447806" cy="91440"/>
          </a:xfrm>
          <a:prstGeom prst="roundRect">
            <a:avLst>
              <a:gd name="adj" fmla="val 180087"/>
            </a:avLst>
          </a:prstGeom>
          <a:solidFill>
            <a:srgbClr val="84C1FA"/>
          </a:solidFill>
          <a:ln/>
        </p:spPr>
      </p:sp>
      <p:sp>
        <p:nvSpPr>
          <p:cNvPr id="13" name="Shape 10"/>
          <p:cNvSpPr/>
          <p:nvPr/>
        </p:nvSpPr>
        <p:spPr>
          <a:xfrm>
            <a:off x="9783842" y="1275874"/>
            <a:ext cx="548878" cy="548878"/>
          </a:xfrm>
          <a:prstGeom prst="roundRect">
            <a:avLst>
              <a:gd name="adj" fmla="val 166594"/>
            </a:avLst>
          </a:prstGeom>
          <a:solidFill>
            <a:srgbClr val="84C1FA"/>
          </a:solidFill>
          <a:ln/>
        </p:spPr>
      </p:sp>
      <p:sp>
        <p:nvSpPr>
          <p:cNvPr id="14" name="Text 11"/>
          <p:cNvSpPr/>
          <p:nvPr/>
        </p:nvSpPr>
        <p:spPr>
          <a:xfrm>
            <a:off x="9948505" y="1413034"/>
            <a:ext cx="219551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040178" y="2007632"/>
            <a:ext cx="2036326" cy="571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Innovative Features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9040178" y="2680573"/>
            <a:ext cx="2036326" cy="1688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auto-calculated academic analytics, publish/unpublish timetable controls, and relief/substitution workflows.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11450836" y="1550313"/>
            <a:ext cx="2447687" cy="3024068"/>
          </a:xfrm>
          <a:prstGeom prst="roundRect">
            <a:avLst>
              <a:gd name="adj" fmla="val 4483"/>
            </a:avLst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11450836" y="1527453"/>
            <a:ext cx="2447687" cy="91440"/>
          </a:xfrm>
          <a:prstGeom prst="roundRect">
            <a:avLst>
              <a:gd name="adj" fmla="val 180087"/>
            </a:avLst>
          </a:prstGeom>
          <a:solidFill>
            <a:srgbClr val="84C1FA"/>
          </a:solidFill>
          <a:ln/>
        </p:spPr>
      </p:sp>
      <p:sp>
        <p:nvSpPr>
          <p:cNvPr id="19" name="Shape 16"/>
          <p:cNvSpPr/>
          <p:nvPr/>
        </p:nvSpPr>
        <p:spPr>
          <a:xfrm>
            <a:off x="12400240" y="1275874"/>
            <a:ext cx="548878" cy="548878"/>
          </a:xfrm>
          <a:prstGeom prst="roundRect">
            <a:avLst>
              <a:gd name="adj" fmla="val 166594"/>
            </a:avLst>
          </a:prstGeom>
          <a:solidFill>
            <a:srgbClr val="84C1FA"/>
          </a:solidFill>
          <a:ln/>
        </p:spPr>
      </p:sp>
      <p:sp>
        <p:nvSpPr>
          <p:cNvPr id="20" name="Text 17"/>
          <p:cNvSpPr/>
          <p:nvPr/>
        </p:nvSpPr>
        <p:spPr>
          <a:xfrm>
            <a:off x="12564904" y="1413034"/>
            <a:ext cx="219551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11656576" y="2007632"/>
            <a:ext cx="2036207" cy="571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Operational Strength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1656576" y="2680573"/>
            <a:ext cx="2036207" cy="1688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Fully containerised (Docker) for portability and reproducibility; complete test coverage across all modules with passing results.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218158" y="5017413"/>
            <a:ext cx="7680365" cy="1612821"/>
          </a:xfrm>
          <a:prstGeom prst="roundRect">
            <a:avLst>
              <a:gd name="adj" fmla="val 6803"/>
            </a:avLst>
          </a:prstGeom>
          <a:solidFill>
            <a:srgbClr val="FFFFFF"/>
          </a:solidFill>
          <a:ln/>
        </p:spPr>
      </p:sp>
      <p:sp>
        <p:nvSpPr>
          <p:cNvPr id="24" name="Shape 21"/>
          <p:cNvSpPr/>
          <p:nvPr/>
        </p:nvSpPr>
        <p:spPr>
          <a:xfrm>
            <a:off x="6218158" y="4994553"/>
            <a:ext cx="7680365" cy="91440"/>
          </a:xfrm>
          <a:prstGeom prst="roundRect">
            <a:avLst>
              <a:gd name="adj" fmla="val 180087"/>
            </a:avLst>
          </a:prstGeom>
          <a:solidFill>
            <a:srgbClr val="84C1FA"/>
          </a:solidFill>
          <a:ln/>
        </p:spPr>
      </p:sp>
      <p:sp>
        <p:nvSpPr>
          <p:cNvPr id="25" name="Shape 22"/>
          <p:cNvSpPr/>
          <p:nvPr/>
        </p:nvSpPr>
        <p:spPr>
          <a:xfrm>
            <a:off x="9783842" y="4742974"/>
            <a:ext cx="548878" cy="548878"/>
          </a:xfrm>
          <a:prstGeom prst="roundRect">
            <a:avLst>
              <a:gd name="adj" fmla="val 166594"/>
            </a:avLst>
          </a:prstGeom>
          <a:solidFill>
            <a:srgbClr val="84C1FA"/>
          </a:solidFill>
          <a:ln/>
        </p:spPr>
      </p:sp>
      <p:sp>
        <p:nvSpPr>
          <p:cNvPr id="26" name="Text 23"/>
          <p:cNvSpPr/>
          <p:nvPr/>
        </p:nvSpPr>
        <p:spPr>
          <a:xfrm>
            <a:off x="9948505" y="4880134"/>
            <a:ext cx="219551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6423898" y="5474732"/>
            <a:ext cx="2402800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Teamwork &amp; Outcome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423898" y="5861804"/>
            <a:ext cx="7268885" cy="562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2165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Zero</a:t>
            </a:r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incomplete modules; equal </a:t>
            </a:r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561C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25% contribution</a:t>
            </a:r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per member; delivered a polished, role-aware platform that replaces fragmented manual processes.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218158" y="6819900"/>
            <a:ext cx="7680484" cy="844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Conclusion: IskolE successfully modernises school administration by providing a secure, reliable, and usable platform for administrators, teachers, parents, and students — fulfilling project goals and academic evaluation criteria.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2026-04-17T16:47:52Z</dcterms:created>
  <dcterms:modified xsi:type="dcterms:W3CDTF">2026-04-17T16:47:52Z</dcterms:modified>
</cp:coreProperties>
</file>